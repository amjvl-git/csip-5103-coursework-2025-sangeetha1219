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Times New Roman Bold" charset="1" panose="02020803070505020304"/>
      <p:regular r:id="rId18"/>
    </p:embeddedFont>
    <p:embeddedFont>
      <p:font typeface="Times New Roman" charset="1" panose="02020603050405020304"/>
      <p:regular r:id="rId19"/>
    </p:embeddedFont>
    <p:embeddedFont>
      <p:font typeface="Times New Roman Italics" charset="1" panose="0202050305040509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39237" y="3891746"/>
            <a:ext cx="24738566" cy="3594877"/>
            <a:chOff x="0" y="0"/>
            <a:chExt cx="32984755" cy="479316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2984755" cy="4793169"/>
              <a:chOff x="0" y="0"/>
              <a:chExt cx="5778928" cy="83976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778928" cy="839763"/>
              </a:xfrm>
              <a:custGeom>
                <a:avLst/>
                <a:gdLst/>
                <a:ahLst/>
                <a:cxnLst/>
                <a:rect r="r" b="b" t="t" l="l"/>
                <a:pathLst>
                  <a:path h="839763" w="5778928">
                    <a:moveTo>
                      <a:pt x="0" y="0"/>
                    </a:moveTo>
                    <a:lnTo>
                      <a:pt x="5778928" y="0"/>
                    </a:lnTo>
                    <a:lnTo>
                      <a:pt x="5778928" y="839763"/>
                    </a:lnTo>
                    <a:lnTo>
                      <a:pt x="0" y="839763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778928" cy="887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875663" y="2968968"/>
              <a:ext cx="6122094" cy="939300"/>
              <a:chOff x="0" y="0"/>
              <a:chExt cx="1072591" cy="16456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72591" cy="164565"/>
              </a:xfrm>
              <a:custGeom>
                <a:avLst/>
                <a:gdLst/>
                <a:ahLst/>
                <a:cxnLst/>
                <a:rect r="r" b="b" t="t" l="l"/>
                <a:pathLst>
                  <a:path h="164565" w="1072591">
                    <a:moveTo>
                      <a:pt x="82283" y="0"/>
                    </a:moveTo>
                    <a:lnTo>
                      <a:pt x="990308" y="0"/>
                    </a:lnTo>
                    <a:cubicBezTo>
                      <a:pt x="1012131" y="0"/>
                      <a:pt x="1033060" y="8669"/>
                      <a:pt x="1048491" y="24100"/>
                    </a:cubicBezTo>
                    <a:cubicBezTo>
                      <a:pt x="1063922" y="39531"/>
                      <a:pt x="1072591" y="60460"/>
                      <a:pt x="1072591" y="82283"/>
                    </a:cubicBezTo>
                    <a:lnTo>
                      <a:pt x="1072591" y="82283"/>
                    </a:lnTo>
                    <a:cubicBezTo>
                      <a:pt x="1072591" y="104105"/>
                      <a:pt x="1063922" y="125034"/>
                      <a:pt x="1048491" y="140465"/>
                    </a:cubicBezTo>
                    <a:cubicBezTo>
                      <a:pt x="1033060" y="155896"/>
                      <a:pt x="1012131" y="164565"/>
                      <a:pt x="990308" y="164565"/>
                    </a:cubicBezTo>
                    <a:lnTo>
                      <a:pt x="82283" y="164565"/>
                    </a:lnTo>
                    <a:cubicBezTo>
                      <a:pt x="60460" y="164565"/>
                      <a:pt x="39531" y="155896"/>
                      <a:pt x="24100" y="140465"/>
                    </a:cubicBezTo>
                    <a:cubicBezTo>
                      <a:pt x="8669" y="125034"/>
                      <a:pt x="0" y="104105"/>
                      <a:pt x="0" y="82283"/>
                    </a:cubicBezTo>
                    <a:lnTo>
                      <a:pt x="0" y="82283"/>
                    </a:lnTo>
                    <a:cubicBezTo>
                      <a:pt x="0" y="60460"/>
                      <a:pt x="8669" y="39531"/>
                      <a:pt x="24100" y="24100"/>
                    </a:cubicBezTo>
                    <a:cubicBezTo>
                      <a:pt x="39531" y="8669"/>
                      <a:pt x="60460" y="0"/>
                      <a:pt x="82283" y="0"/>
                    </a:cubicBezTo>
                    <a:close/>
                  </a:path>
                </a:pathLst>
              </a:custGeom>
              <a:solidFill>
                <a:srgbClr val="5696B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072591" cy="2121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1875663" y="3118858"/>
              <a:ext cx="6122094" cy="56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pc="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Student ID : P2905065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662238" y="1054858"/>
              <a:ext cx="22786439" cy="114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59"/>
                </a:lnSpc>
                <a:spcBef>
                  <a:spcPct val="0"/>
                </a:spcBef>
              </a:pPr>
              <a:r>
                <a:rPr lang="en-US" b="true" sz="4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Neural Network Model for Fashion-MNIST Image Classification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687825" y="295796"/>
            <a:ext cx="6769164" cy="2740110"/>
          </a:xfrm>
          <a:custGeom>
            <a:avLst/>
            <a:gdLst/>
            <a:ahLst/>
            <a:cxnLst/>
            <a:rect r="r" b="b" t="t" l="l"/>
            <a:pathLst>
              <a:path h="2740110" w="6769164">
                <a:moveTo>
                  <a:pt x="0" y="0"/>
                </a:moveTo>
                <a:lnTo>
                  <a:pt x="6769164" y="0"/>
                </a:lnTo>
                <a:lnTo>
                  <a:pt x="6769164" y="2740110"/>
                </a:lnTo>
                <a:lnTo>
                  <a:pt x="0" y="2740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09138" y="1808657"/>
            <a:ext cx="2595364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Introduction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28700" y="2936676"/>
            <a:ext cx="16230600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Brief background: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Fashion-MNIST dataset with 70,000 grayscale clothing images (28x28 pixels, 10 classes like T-shirt, trouser, coat) for image classification benchmarking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chosen: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Builds hands-on NN skills; compares ANN vs. CNN for practical computer vision in fashion AI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Problem/question: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Design/train models to achieve high accuracy (&gt;90%), analyze confusions (e.g., shirt vs. coat), and innovate with tuning/augmentation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15764" y="1807466"/>
            <a:ext cx="3241278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ct Purpose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092629"/>
            <a:ext cx="162306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and evaluate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for classifying grayscale clothing images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776797" y="4664045"/>
            <a:ext cx="4701877" cy="3304597"/>
            <a:chOff x="0" y="0"/>
            <a:chExt cx="1238354" cy="8703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8354" cy="870346"/>
            </a:xfrm>
            <a:custGeom>
              <a:avLst/>
              <a:gdLst/>
              <a:ahLst/>
              <a:cxnLst/>
              <a:rect r="r" b="b" t="t" l="l"/>
              <a:pathLst>
                <a:path h="870346" w="1238354">
                  <a:moveTo>
                    <a:pt x="65862" y="0"/>
                  </a:moveTo>
                  <a:lnTo>
                    <a:pt x="1172492" y="0"/>
                  </a:lnTo>
                  <a:cubicBezTo>
                    <a:pt x="1189960" y="0"/>
                    <a:pt x="1206712" y="6939"/>
                    <a:pt x="1219064" y="19291"/>
                  </a:cubicBezTo>
                  <a:cubicBezTo>
                    <a:pt x="1231415" y="31642"/>
                    <a:pt x="1238354" y="48395"/>
                    <a:pt x="1238354" y="65862"/>
                  </a:cubicBezTo>
                  <a:lnTo>
                    <a:pt x="1238354" y="804484"/>
                  </a:lnTo>
                  <a:cubicBezTo>
                    <a:pt x="1238354" y="840859"/>
                    <a:pt x="1208867" y="870346"/>
                    <a:pt x="1172492" y="870346"/>
                  </a:cubicBezTo>
                  <a:lnTo>
                    <a:pt x="65862" y="870346"/>
                  </a:lnTo>
                  <a:cubicBezTo>
                    <a:pt x="48395" y="870346"/>
                    <a:pt x="31642" y="863407"/>
                    <a:pt x="19291" y="851056"/>
                  </a:cubicBezTo>
                  <a:cubicBezTo>
                    <a:pt x="6939" y="838704"/>
                    <a:pt x="0" y="821952"/>
                    <a:pt x="0" y="804484"/>
                  </a:cubicBezTo>
                  <a:lnTo>
                    <a:pt x="0" y="65862"/>
                  </a:lnTo>
                  <a:cubicBezTo>
                    <a:pt x="0" y="29488"/>
                    <a:pt x="29488" y="0"/>
                    <a:pt x="65862" y="0"/>
                  </a:cubicBez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1238354" cy="97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142525" y="4664045"/>
            <a:ext cx="4701877" cy="3304597"/>
            <a:chOff x="0" y="0"/>
            <a:chExt cx="1238354" cy="8703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38354" cy="870346"/>
            </a:xfrm>
            <a:custGeom>
              <a:avLst/>
              <a:gdLst/>
              <a:ahLst/>
              <a:cxnLst/>
              <a:rect r="r" b="b" t="t" l="l"/>
              <a:pathLst>
                <a:path h="870346" w="1238354">
                  <a:moveTo>
                    <a:pt x="65862" y="0"/>
                  </a:moveTo>
                  <a:lnTo>
                    <a:pt x="1172492" y="0"/>
                  </a:lnTo>
                  <a:cubicBezTo>
                    <a:pt x="1189960" y="0"/>
                    <a:pt x="1206712" y="6939"/>
                    <a:pt x="1219064" y="19291"/>
                  </a:cubicBezTo>
                  <a:cubicBezTo>
                    <a:pt x="1231415" y="31642"/>
                    <a:pt x="1238354" y="48395"/>
                    <a:pt x="1238354" y="65862"/>
                  </a:cubicBezTo>
                  <a:lnTo>
                    <a:pt x="1238354" y="804484"/>
                  </a:lnTo>
                  <a:cubicBezTo>
                    <a:pt x="1238354" y="840859"/>
                    <a:pt x="1208867" y="870346"/>
                    <a:pt x="1172492" y="870346"/>
                  </a:cubicBezTo>
                  <a:lnTo>
                    <a:pt x="65862" y="870346"/>
                  </a:lnTo>
                  <a:cubicBezTo>
                    <a:pt x="48395" y="870346"/>
                    <a:pt x="31642" y="863407"/>
                    <a:pt x="19291" y="851056"/>
                  </a:cubicBezTo>
                  <a:cubicBezTo>
                    <a:pt x="6939" y="838704"/>
                    <a:pt x="0" y="821952"/>
                    <a:pt x="0" y="804484"/>
                  </a:cubicBezTo>
                  <a:lnTo>
                    <a:pt x="0" y="65862"/>
                  </a:lnTo>
                  <a:cubicBezTo>
                    <a:pt x="0" y="29488"/>
                    <a:pt x="29488" y="0"/>
                    <a:pt x="65862" y="0"/>
                  </a:cubicBez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1238354" cy="97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08252" y="4664045"/>
            <a:ext cx="4701877" cy="3304597"/>
            <a:chOff x="0" y="0"/>
            <a:chExt cx="1238354" cy="8703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8354" cy="870346"/>
            </a:xfrm>
            <a:custGeom>
              <a:avLst/>
              <a:gdLst/>
              <a:ahLst/>
              <a:cxnLst/>
              <a:rect r="r" b="b" t="t" l="l"/>
              <a:pathLst>
                <a:path h="870346" w="1238354">
                  <a:moveTo>
                    <a:pt x="65862" y="0"/>
                  </a:moveTo>
                  <a:lnTo>
                    <a:pt x="1172492" y="0"/>
                  </a:lnTo>
                  <a:cubicBezTo>
                    <a:pt x="1189960" y="0"/>
                    <a:pt x="1206712" y="6939"/>
                    <a:pt x="1219064" y="19291"/>
                  </a:cubicBezTo>
                  <a:cubicBezTo>
                    <a:pt x="1231415" y="31642"/>
                    <a:pt x="1238354" y="48395"/>
                    <a:pt x="1238354" y="65862"/>
                  </a:cubicBezTo>
                  <a:lnTo>
                    <a:pt x="1238354" y="804484"/>
                  </a:lnTo>
                  <a:cubicBezTo>
                    <a:pt x="1238354" y="840859"/>
                    <a:pt x="1208867" y="870346"/>
                    <a:pt x="1172492" y="870346"/>
                  </a:cubicBezTo>
                  <a:lnTo>
                    <a:pt x="65862" y="870346"/>
                  </a:lnTo>
                  <a:cubicBezTo>
                    <a:pt x="48395" y="870346"/>
                    <a:pt x="31642" y="863407"/>
                    <a:pt x="19291" y="851056"/>
                  </a:cubicBezTo>
                  <a:cubicBezTo>
                    <a:pt x="6939" y="838704"/>
                    <a:pt x="0" y="821952"/>
                    <a:pt x="0" y="804484"/>
                  </a:cubicBezTo>
                  <a:lnTo>
                    <a:pt x="0" y="65862"/>
                  </a:lnTo>
                  <a:cubicBezTo>
                    <a:pt x="0" y="29488"/>
                    <a:pt x="29488" y="0"/>
                    <a:pt x="65862" y="0"/>
                  </a:cubicBez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238354" cy="97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06881" y="4711064"/>
            <a:ext cx="2041710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</a:t>
            </a: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6909" y="5928361"/>
            <a:ext cx="30616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60,000 training and 10,000 testing images (28×28 pixels)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73985" y="4795314"/>
            <a:ext cx="2041710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</a:t>
            </a: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41089" y="4879565"/>
            <a:ext cx="2041710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</a:t>
            </a:r>
            <a:r>
              <a:rPr lang="en-US" b="true" sz="3599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allenge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62636" y="5928361"/>
            <a:ext cx="3061654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high accuracy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preprocessing, tuning, and ensemble methods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50168" y="5928361"/>
            <a:ext cx="30616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andling visually similar classes (e.g., shirt vs. coat)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1696152"/>
            <a:ext cx="3521174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 Preparation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914811"/>
            <a:ext cx="16230600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ataset Source:</a:t>
            </a:r>
            <a:r>
              <a:rPr lang="en-US" sz="30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torchvision.datasets.FashionMNIST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Normalization: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= 0.286, Std = 0.353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Splits: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Train: 48,000 (80%)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Validation: 12,000 (20%)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10,000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Augmentation Techniques: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Flip, Random Rotation (±10°), Random Crop, Gaussian Blur.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1685219"/>
            <a:ext cx="5023247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ANN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 Architecture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914811"/>
            <a:ext cx="16230600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ayers:</a:t>
            </a:r>
            <a:r>
              <a:rPr lang="en-US" sz="30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Input (784) → Hidden (512 → 256) → Output (10 classes)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ivation: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rgbClr val="0202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ReLU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Regu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larization: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Dropout (0.3)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Optimizer: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Adam (lr = 0.001)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Accuracy: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81.96%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Accuracy: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83.99% (F1 = 0.84)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5850" y="1685219"/>
            <a:ext cx="4908947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914811"/>
            <a:ext cx="16230600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Convolutional L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ayers:</a:t>
            </a:r>
            <a:r>
              <a:rPr lang="en-US" sz="30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1→ 32 → 64 → 128 filters, kernel = 3×3, padding = 1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Pool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ing: 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Pooling (2×2)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lly Connected Layers: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2304 → 256 → 10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Dro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pout: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Accuracy: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87.26%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Accuracy: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90.64% (F1 = 0.91)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2141" y="1685219"/>
            <a:ext cx="4576366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Training C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onfiguration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141" y="2912041"/>
            <a:ext cx="162306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Loss Function: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rossEntropyLoss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Optimizer: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 (lr=0.001)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Schedu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ler: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StepLR (step size=7, γ=0.1)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Batch Size:</a:t>
            </a:r>
            <a:r>
              <a:rPr lang="en-US" b="true" sz="3000">
                <a:solidFill>
                  <a:srgbClr val="02020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202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pochs: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onvergence: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(CNN final val loss = 0.263)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1234076" y="3021184"/>
          <a:ext cx="12545975" cy="4991100"/>
        </p:xfrm>
        <a:graphic>
          <a:graphicData uri="http://schemas.openxmlformats.org/drawingml/2006/table">
            <a:tbl>
              <a:tblPr/>
              <a:tblGrid>
                <a:gridCol w="2884590"/>
                <a:gridCol w="2884590"/>
                <a:gridCol w="3388398"/>
                <a:gridCol w="3388398"/>
              </a:tblGrid>
              <a:tr h="1794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Validati</a:t>
                      </a:r>
                      <a:r>
                        <a:rPr lang="en-US" sz="36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on Acc.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</a:t>
                      </a:r>
                      <a:r>
                        <a:rPr lang="en-US" sz="36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est Acc.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F1-</a:t>
                      </a:r>
                      <a:r>
                        <a:rPr lang="en-US" b="true" sz="36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Macro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81.96%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83.99%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87.26%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90.64%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89.92%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252141" y="1683835"/>
            <a:ext cx="5065415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Comparison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5825" y="8253751"/>
            <a:ext cx="1252733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outperforming ANN by 6.65% 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Reduced confusion between similar classes (e.g., shirts vs. coats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2141" y="1683835"/>
            <a:ext cx="2312095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nnovations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141" y="2912041"/>
            <a:ext cx="162306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true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Grid Search: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dropout and learning rate tuning.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Augmentation: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roved generalization.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Deeper CNN Ar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chitectur</a:t>
            </a: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spatial feature extraction.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Visualizations: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Training/validation curves</a:t>
            </a: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5696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Confusion matrices 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iii. Classification repor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2141" y="1683835"/>
            <a:ext cx="5889427" cy="7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3599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onclusions and Future 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141" y="2912041"/>
            <a:ext cx="162306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CNNs capture </a:t>
            </a:r>
            <a:r>
              <a:rPr lang="en-US" sz="3000" b="true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spatial hierarchies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missed by ANNs. 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methods </a:t>
            </a:r>
            <a:r>
              <a:rPr lang="en-US" sz="3000" b="true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boost robustness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minimal cost.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Takeaways: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i. Augmentation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class confusion. 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ii. Tuning improves accuracy by 2–3%. </a:t>
            </a:r>
          </a:p>
          <a:p>
            <a:pPr algn="just">
              <a:lnSpc>
                <a:spcPts val="4800"/>
              </a:lnSpc>
            </a:pPr>
            <a:r>
              <a:rPr lang="en-US" b="true" sz="3000">
                <a:solidFill>
                  <a:srgbClr val="5696B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Enhancements: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i.U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ResNet or advanced schedulers. 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ii.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for &gt;92% accuracy in scalable fashion AI systems.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6837" y="-1464131"/>
            <a:ext cx="22405064" cy="2641756"/>
            <a:chOff x="0" y="0"/>
            <a:chExt cx="5233822" cy="617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58532" y="9662148"/>
            <a:ext cx="22405064" cy="2641756"/>
            <a:chOff x="0" y="0"/>
            <a:chExt cx="5233822" cy="617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3822" cy="617114"/>
            </a:xfrm>
            <a:custGeom>
              <a:avLst/>
              <a:gdLst/>
              <a:ahLst/>
              <a:cxnLst/>
              <a:rect r="r" b="b" t="t" l="l"/>
              <a:pathLst>
                <a:path h="617114" w="5233822">
                  <a:moveTo>
                    <a:pt x="0" y="0"/>
                  </a:moveTo>
                  <a:lnTo>
                    <a:pt x="5233822" y="0"/>
                  </a:lnTo>
                  <a:lnTo>
                    <a:pt x="5233822" y="617114"/>
                  </a:lnTo>
                  <a:lnTo>
                    <a:pt x="0" y="617114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33822" cy="66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878406" y="9890887"/>
            <a:ext cx="27132463" cy="3808798"/>
            <a:chOff x="0" y="0"/>
            <a:chExt cx="7145998" cy="1003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99" cy="1003140"/>
            </a:xfrm>
            <a:custGeom>
              <a:avLst/>
              <a:gdLst/>
              <a:ahLst/>
              <a:cxnLst/>
              <a:rect r="r" b="b" t="t" l="l"/>
              <a:pathLst>
                <a:path h="1003140" w="7145999">
                  <a:moveTo>
                    <a:pt x="0" y="0"/>
                  </a:moveTo>
                  <a:lnTo>
                    <a:pt x="7145999" y="0"/>
                  </a:lnTo>
                  <a:lnTo>
                    <a:pt x="7145999" y="1003140"/>
                  </a:lnTo>
                  <a:lnTo>
                    <a:pt x="0" y="1003140"/>
                  </a:lnTo>
                  <a:close/>
                </a:path>
              </a:pathLst>
            </a:custGeom>
            <a:solidFill>
              <a:srgbClr val="5696B8">
                <a:alpha val="2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45998" cy="110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39237" y="10037530"/>
            <a:ext cx="21193293" cy="4532747"/>
            <a:chOff x="0" y="0"/>
            <a:chExt cx="5581773" cy="119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86837" y="10189930"/>
            <a:ext cx="21193293" cy="4532747"/>
            <a:chOff x="0" y="0"/>
            <a:chExt cx="5581773" cy="119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1773" cy="1193810"/>
            </a:xfrm>
            <a:custGeom>
              <a:avLst/>
              <a:gdLst/>
              <a:ahLst/>
              <a:cxnLst/>
              <a:rect r="r" b="b" t="t" l="l"/>
              <a:pathLst>
                <a:path h="1193810" w="5581773">
                  <a:moveTo>
                    <a:pt x="0" y="0"/>
                  </a:moveTo>
                  <a:lnTo>
                    <a:pt x="5581773" y="0"/>
                  </a:lnTo>
                  <a:lnTo>
                    <a:pt x="5581773" y="1193810"/>
                  </a:lnTo>
                  <a:lnTo>
                    <a:pt x="0" y="1193810"/>
                  </a:lnTo>
                  <a:close/>
                </a:path>
              </a:pathLst>
            </a:custGeom>
            <a:solidFill>
              <a:srgbClr val="5696B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81773" cy="12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68581" y="146871"/>
            <a:ext cx="2178468" cy="881829"/>
          </a:xfrm>
          <a:custGeom>
            <a:avLst/>
            <a:gdLst/>
            <a:ahLst/>
            <a:cxnLst/>
            <a:rect r="r" b="b" t="t" l="l"/>
            <a:pathLst>
              <a:path h="881829" w="2178468">
                <a:moveTo>
                  <a:pt x="0" y="0"/>
                </a:moveTo>
                <a:lnTo>
                  <a:pt x="2178468" y="0"/>
                </a:lnTo>
                <a:lnTo>
                  <a:pt x="2178468" y="881829"/>
                </a:lnTo>
                <a:lnTo>
                  <a:pt x="0" y="88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" t="-4225" r="-3064" b="-446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687825" y="1709625"/>
            <a:ext cx="6750688" cy="7036251"/>
            <a:chOff x="0" y="0"/>
            <a:chExt cx="9000917" cy="9381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751"/>
              <a:ext cx="9000917" cy="9000917"/>
            </a:xfrm>
            <a:custGeom>
              <a:avLst/>
              <a:gdLst/>
              <a:ahLst/>
              <a:cxnLst/>
              <a:rect r="r" b="b" t="t" l="l"/>
              <a:pathLst>
                <a:path h="9000917" w="9000917">
                  <a:moveTo>
                    <a:pt x="0" y="0"/>
                  </a:moveTo>
                  <a:lnTo>
                    <a:pt x="9000917" y="0"/>
                  </a:lnTo>
                  <a:lnTo>
                    <a:pt x="9000917" y="9000917"/>
                  </a:lnTo>
                  <a:lnTo>
                    <a:pt x="0" y="900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3537" y="654288"/>
              <a:ext cx="8727380" cy="8727380"/>
            </a:xfrm>
            <a:custGeom>
              <a:avLst/>
              <a:gdLst/>
              <a:ahLst/>
              <a:cxnLst/>
              <a:rect r="r" b="b" t="t" l="l"/>
              <a:pathLst>
                <a:path h="8727380" w="8727380">
                  <a:moveTo>
                    <a:pt x="0" y="0"/>
                  </a:moveTo>
                  <a:lnTo>
                    <a:pt x="8727380" y="0"/>
                  </a:lnTo>
                  <a:lnTo>
                    <a:pt x="8727380" y="8727380"/>
                  </a:lnTo>
                  <a:lnTo>
                    <a:pt x="0" y="872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635" y="0"/>
              <a:ext cx="5564434" cy="8650165"/>
            </a:xfrm>
            <a:custGeom>
              <a:avLst/>
              <a:gdLst/>
              <a:ahLst/>
              <a:cxnLst/>
              <a:rect r="r" b="b" t="t" l="l"/>
              <a:pathLst>
                <a:path h="8650165" w="5564434">
                  <a:moveTo>
                    <a:pt x="0" y="0"/>
                  </a:moveTo>
                  <a:lnTo>
                    <a:pt x="5564433" y="0"/>
                  </a:lnTo>
                  <a:lnTo>
                    <a:pt x="5564433" y="8650165"/>
                  </a:lnTo>
                  <a:lnTo>
                    <a:pt x="0" y="865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13303" t="-1174" r="-284213" b="-43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58564" y="4080383"/>
            <a:ext cx="7314262" cy="173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21"/>
              </a:lnSpc>
              <a:spcBef>
                <a:spcPct val="0"/>
              </a:spcBef>
            </a:pPr>
            <a:r>
              <a:rPr lang="en-US" b="true" sz="8950">
                <a:solidFill>
                  <a:srgbClr val="6E0C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DAG3ynAFfxw</dc:identifier>
  <dcterms:modified xsi:type="dcterms:W3CDTF">2011-08-01T06:04:30Z</dcterms:modified>
  <cp:revision>1</cp:revision>
  <dc:title>P2905065_ppt </dc:title>
</cp:coreProperties>
</file>